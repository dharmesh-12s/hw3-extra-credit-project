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1781" y="765767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619" y="874395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13950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333810" y="-1543050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936188" y="1920463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048664" y="4832351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594320" y="2224406"/>
            <a:ext cx="16824960" cy="2011680"/>
            <a:chOff x="0" y="0"/>
            <a:chExt cx="2243328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2965" r="0" b="-1129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71450"/>
              <a:ext cx="2243328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b="true" sz="8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WikiPlots BST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35040" y="4283711"/>
            <a:ext cx="16824960" cy="1097280"/>
            <a:chOff x="0" y="0"/>
            <a:chExt cx="2243328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33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2243328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Story Search Engine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11680" y="5431129"/>
            <a:ext cx="13716000" cy="1554480"/>
            <a:chOff x="0" y="0"/>
            <a:chExt cx="1828800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1926" r="0" b="-1219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8288000" cy="2139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Efficiently indexing 112,936 Wikipedia plot summaries</a:t>
              </a:r>
            </a:p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using a Binary Search Tree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0" y="8961120"/>
            <a:ext cx="4023360" cy="842218"/>
            <a:chOff x="0" y="0"/>
            <a:chExt cx="5364480" cy="11229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64480" cy="1122958"/>
            </a:xfrm>
            <a:custGeom>
              <a:avLst/>
              <a:gdLst/>
              <a:ahLst/>
              <a:cxnLst/>
              <a:rect r="r" b="b" t="t" l="l"/>
              <a:pathLst>
                <a:path h="112295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653" r="0" b="-365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36448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Dharmesh Sharma </a:t>
              </a:r>
            </a:p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Mit Gandhi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15972" y="-3023350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5419"/>
              <a:ext cx="824437" cy="78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44648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17962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672519" y="2856336"/>
            <a:ext cx="3834711" cy="75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72519" y="5899683"/>
            <a:ext cx="3273433" cy="75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72519" y="7421357"/>
            <a:ext cx="3273433" cy="75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31520" y="415924"/>
            <a:ext cx="16824960" cy="1371600"/>
            <a:chOff x="0" y="0"/>
            <a:chExt cx="2243328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2243328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99"/>
                </a:lnSpc>
              </a:pPr>
              <a:r>
                <a:rPr lang="en-US" b="true" sz="4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858" y="1984253"/>
            <a:ext cx="5511803" cy="6974843"/>
            <a:chOff x="0" y="0"/>
            <a:chExt cx="7349071" cy="92997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17858" y="1907543"/>
            <a:ext cx="5511803" cy="153419"/>
            <a:chOff x="0" y="0"/>
            <a:chExt cx="7349071" cy="204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04875" y="2128202"/>
            <a:ext cx="4937760" cy="914400"/>
            <a:chOff x="0" y="0"/>
            <a:chExt cx="658368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4875" y="3383280"/>
            <a:ext cx="4937760" cy="5120640"/>
            <a:chOff x="0" y="0"/>
            <a:chExt cx="6583680" cy="6827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055" t="0" r="-83055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583680" cy="6884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112,936 Wikipedia story plots — searching through all of them one by one would be slow and impractical at scale.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88098" y="1984253"/>
            <a:ext cx="5511803" cy="6974843"/>
            <a:chOff x="0" y="0"/>
            <a:chExt cx="7349071" cy="92997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88098" y="1907543"/>
            <a:ext cx="5511803" cy="153419"/>
            <a:chOff x="0" y="0"/>
            <a:chExt cx="7349071" cy="2045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75120" y="2194560"/>
            <a:ext cx="4937760" cy="914400"/>
            <a:chOff x="0" y="0"/>
            <a:chExt cx="658368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75120" y="3383280"/>
            <a:ext cx="4937760" cy="5120640"/>
            <a:chOff x="0" y="0"/>
            <a:chExt cx="6583680" cy="6827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055" t="0" r="-8305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583680" cy="6884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Binary Search Tree organizes stories by title so any story can be found in O(log n) time on average.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31698" y="1907543"/>
            <a:ext cx="5511803" cy="6974843"/>
            <a:chOff x="0" y="0"/>
            <a:chExt cx="7349071" cy="92997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09235" y="1914333"/>
            <a:ext cx="5511803" cy="153419"/>
            <a:chOff x="0" y="0"/>
            <a:chExt cx="7349071" cy="2045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96257" y="2194560"/>
            <a:ext cx="4937760" cy="914400"/>
            <a:chOff x="0" y="0"/>
            <a:chExt cx="6583680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5836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Goal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18720" y="3383280"/>
            <a:ext cx="4937760" cy="5120640"/>
            <a:chOff x="0" y="0"/>
            <a:chExt cx="6583680" cy="6827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055" t="0" r="-83055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6583680" cy="6884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working search engine that demonstrates BST strengths — and honestly shows its limitations too.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60497" y="89738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35360" y="8896350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3" y="0"/>
                </a:lnTo>
                <a:lnTo>
                  <a:pt x="2489663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Dataset — WikiPlots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7383" y="1816103"/>
            <a:ext cx="5511803" cy="7157723"/>
            <a:chOff x="0" y="0"/>
            <a:chExt cx="7349071" cy="95436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8982" cy="9543542"/>
            </a:xfrm>
            <a:custGeom>
              <a:avLst/>
              <a:gdLst/>
              <a:ahLst/>
              <a:cxnLst/>
              <a:rect r="r" b="b" t="t" l="l"/>
              <a:pathLst>
                <a:path h="9543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526651"/>
                  </a:lnTo>
                  <a:cubicBezTo>
                    <a:pt x="7348982" y="9536049"/>
                    <a:pt x="7341362" y="9543542"/>
                    <a:pt x="733209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332091" y="9509760"/>
                  </a:lnTo>
                  <a:lnTo>
                    <a:pt x="7332091" y="9526651"/>
                  </a:lnTo>
                  <a:lnTo>
                    <a:pt x="7315200" y="9526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0080" y="3108960"/>
            <a:ext cx="5486400" cy="2194560"/>
            <a:chOff x="0" y="0"/>
            <a:chExt cx="7315200" cy="2926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71450"/>
              <a:ext cx="7315200" cy="3097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112,936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0080" y="5394960"/>
            <a:ext cx="5486400" cy="1463040"/>
            <a:chOff x="0" y="0"/>
            <a:chExt cx="7315200" cy="195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315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story plots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Wikipedia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62423" y="1907543"/>
            <a:ext cx="10998203" cy="1451867"/>
            <a:chOff x="0" y="0"/>
            <a:chExt cx="14664271" cy="19358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46303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641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918843"/>
                  </a:lnTo>
                  <a:cubicBezTo>
                    <a:pt x="14664182" y="1928241"/>
                    <a:pt x="14656563" y="1935734"/>
                    <a:pt x="146472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647290" y="1901952"/>
                  </a:lnTo>
                  <a:lnTo>
                    <a:pt x="14647290" y="1918843"/>
                  </a:lnTo>
                  <a:lnTo>
                    <a:pt x="14630400" y="19188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662423" y="1907543"/>
            <a:ext cx="153419" cy="1451867"/>
            <a:chOff x="0" y="0"/>
            <a:chExt cx="204559" cy="19358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040880" y="2048256"/>
            <a:ext cx="2377440" cy="548640"/>
            <a:chOff x="0" y="0"/>
            <a:chExt cx="31699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Source: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6880" y="2048256"/>
            <a:ext cx="8046720" cy="1005840"/>
            <a:chOff x="0" y="0"/>
            <a:chExt cx="1072896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728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English-language Wikipedia articles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62423" y="3590039"/>
            <a:ext cx="10998203" cy="1451867"/>
            <a:chOff x="0" y="0"/>
            <a:chExt cx="14664271" cy="19358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46303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641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918843"/>
                  </a:lnTo>
                  <a:cubicBezTo>
                    <a:pt x="14664182" y="1928241"/>
                    <a:pt x="14656563" y="1935734"/>
                    <a:pt x="146472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647290" y="1901952"/>
                  </a:lnTo>
                  <a:lnTo>
                    <a:pt x="14647290" y="1918843"/>
                  </a:lnTo>
                  <a:lnTo>
                    <a:pt x="14630400" y="19188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662423" y="3590039"/>
            <a:ext cx="153419" cy="1451867"/>
            <a:chOff x="0" y="0"/>
            <a:chExt cx="204559" cy="193582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40880" y="3730752"/>
            <a:ext cx="2377440" cy="548640"/>
            <a:chOff x="0" y="0"/>
            <a:chExt cx="31699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Coverage: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3730752"/>
            <a:ext cx="8046720" cy="1005840"/>
            <a:chOff x="0" y="0"/>
            <a:chExt cx="1072896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728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Films, novels, TV shows, video games, operas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62423" y="5272535"/>
            <a:ext cx="10998203" cy="1451867"/>
            <a:chOff x="0" y="0"/>
            <a:chExt cx="14664271" cy="193582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146303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641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918843"/>
                  </a:lnTo>
                  <a:cubicBezTo>
                    <a:pt x="14664182" y="1928241"/>
                    <a:pt x="14656563" y="1935734"/>
                    <a:pt x="146472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647290" y="1901952"/>
                  </a:lnTo>
                  <a:lnTo>
                    <a:pt x="14647290" y="1918843"/>
                  </a:lnTo>
                  <a:lnTo>
                    <a:pt x="14630400" y="19188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662423" y="5272535"/>
            <a:ext cx="153419" cy="1451867"/>
            <a:chOff x="0" y="0"/>
            <a:chExt cx="204559" cy="19358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040880" y="5413248"/>
            <a:ext cx="2377440" cy="548640"/>
            <a:chOff x="0" y="0"/>
            <a:chExt cx="31699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26880" y="5413248"/>
            <a:ext cx="8046720" cy="1005840"/>
            <a:chOff x="0" y="0"/>
            <a:chExt cx="10728960" cy="1341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728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plain text files — plots &amp; titles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662423" y="6955031"/>
            <a:ext cx="10998203" cy="1451867"/>
            <a:chOff x="0" y="0"/>
            <a:chExt cx="14664271" cy="19358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46303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641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918843"/>
                  </a:lnTo>
                  <a:cubicBezTo>
                    <a:pt x="14664182" y="1928241"/>
                    <a:pt x="14656563" y="1935734"/>
                    <a:pt x="146472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4647290" y="1901952"/>
                  </a:lnTo>
                  <a:lnTo>
                    <a:pt x="14647290" y="1918843"/>
                  </a:lnTo>
                  <a:lnTo>
                    <a:pt x="14630400" y="19188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662423" y="6955031"/>
            <a:ext cx="153419" cy="1451867"/>
            <a:chOff x="0" y="0"/>
            <a:chExt cx="204559" cy="193582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040880" y="7095744"/>
            <a:ext cx="2377440" cy="548640"/>
            <a:chOff x="0" y="0"/>
            <a:chExt cx="31699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326880" y="7095744"/>
            <a:ext cx="8046720" cy="1005840"/>
            <a:chOff x="0" y="0"/>
            <a:chExt cx="10728960" cy="13411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7289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noise: missing values, encoding artifacts, inconsistent formatting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-2866142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5419"/>
              <a:ext cx="824437" cy="78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8437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the Binary Search Tree Works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59703" y="1816103"/>
            <a:ext cx="2768603" cy="848363"/>
            <a:chOff x="0" y="0"/>
            <a:chExt cx="3691471" cy="1131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/>
              <a:stretch>
                <a:fillRect l="-461" t="-15547" r="-464" b="-15555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626362" y="3352812"/>
            <a:ext cx="2768603" cy="848363"/>
            <a:chOff x="0" y="0"/>
            <a:chExt cx="3691471" cy="1131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/>
              <a:stretch>
                <a:fillRect l="-461" t="-15547" r="-464" b="-15555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74503" y="3370583"/>
            <a:ext cx="2768603" cy="848363"/>
            <a:chOff x="0" y="0"/>
            <a:chExt cx="3691471" cy="1131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/>
              <a:stretch>
                <a:fillRect l="-461" t="-15547" r="-464" b="-15555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33288" y="4907292"/>
            <a:ext cx="2768603" cy="848363"/>
            <a:chOff x="0" y="0"/>
            <a:chExt cx="3691471" cy="11311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55162" y="4907292"/>
            <a:ext cx="2768603" cy="848363"/>
            <a:chOff x="0" y="0"/>
            <a:chExt cx="3691471" cy="1131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0" y="4937760"/>
            <a:ext cx="2743200" cy="822960"/>
            <a:chOff x="0" y="0"/>
            <a:chExt cx="365760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"interstellar"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5" y="4925063"/>
            <a:ext cx="2768603" cy="848363"/>
            <a:chOff x="0" y="0"/>
            <a:chExt cx="369147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58405" y="4912357"/>
            <a:ext cx="2743200" cy="822960"/>
            <a:chOff x="0" y="0"/>
            <a:chExt cx="36576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"titanic"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8480" y="1828800"/>
            <a:ext cx="2743200" cy="548640"/>
            <a:chOff x="0" y="0"/>
            <a:chExt cx="36576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657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1E1E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root node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1966" y="6938053"/>
            <a:ext cx="17007840" cy="1188720"/>
            <a:chOff x="0" y="0"/>
            <a:chExt cx="22677120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677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8785" r="0" b="-2287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6771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Smaller titles go LEFT  ·  Larger titles go RIGHT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level halves the remaining search space → O(log n) average search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H="true">
            <a:off x="11430005" y="4218880"/>
            <a:ext cx="1537940" cy="693477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 flipV="true">
            <a:off x="10526713" y="2361967"/>
            <a:ext cx="2732087" cy="1021313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H="true">
            <a:off x="5044795" y="2217193"/>
            <a:ext cx="2700340" cy="92637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 flipV="true">
            <a:off x="5010664" y="4201109"/>
            <a:ext cx="1828800" cy="706183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2917589" y="4193519"/>
            <a:ext cx="1929551" cy="713773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3626362" y="3383280"/>
            <a:ext cx="2768603" cy="848363"/>
            <a:chOff x="0" y="0"/>
            <a:chExt cx="3691471" cy="1131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626362" y="3365514"/>
            <a:ext cx="2743200" cy="822960"/>
            <a:chOff x="0" y="0"/>
            <a:chExt cx="365760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"inception "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772405" y="1878964"/>
            <a:ext cx="2743200" cy="822960"/>
            <a:chOff x="0" y="0"/>
            <a:chExt cx="365760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"avatar"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59703" y="1828800"/>
            <a:ext cx="2768603" cy="848363"/>
            <a:chOff x="0" y="0"/>
            <a:chExt cx="3691471" cy="11311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874498" y="3383280"/>
            <a:ext cx="2768603" cy="848363"/>
            <a:chOff x="0" y="0"/>
            <a:chExt cx="3691471" cy="11311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913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114171"/>
                  </a:lnTo>
                  <a:cubicBezTo>
                    <a:pt x="3691382" y="1123569"/>
                    <a:pt x="3683762" y="1131062"/>
                    <a:pt x="36744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674491" y="1097280"/>
                  </a:lnTo>
                  <a:lnTo>
                    <a:pt x="3674491" y="1114171"/>
                  </a:lnTo>
                  <a:lnTo>
                    <a:pt x="3657600" y="11141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7758110" y="2021527"/>
            <a:ext cx="2768603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“</a:t>
            </a: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matrix”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558691" y="4937760"/>
            <a:ext cx="2743200" cy="822960"/>
            <a:chOff x="0" y="0"/>
            <a:chExt cx="365760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“avatar”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74498" y="3408683"/>
            <a:ext cx="2743200" cy="822960"/>
            <a:chOff x="0" y="0"/>
            <a:chExt cx="365760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"star wars"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Preprocessing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645920"/>
            <a:ext cx="16824960" cy="731520"/>
            <a:chOff x="0" y="0"/>
            <a:chExt cx="2243328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data is messy. Before inserting into the BST, four cleaning steps are applied: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2639063"/>
            <a:ext cx="8255003" cy="2494283"/>
            <a:chOff x="0" y="0"/>
            <a:chExt cx="11006671" cy="33257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7383" y="2639063"/>
            <a:ext cx="793499" cy="2494283"/>
            <a:chOff x="0" y="0"/>
            <a:chExt cx="1057999" cy="33257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7910" cy="3325622"/>
            </a:xfrm>
            <a:custGeom>
              <a:avLst/>
              <a:gdLst/>
              <a:ahLst/>
              <a:cxnLst/>
              <a:rect r="r" b="b" t="t" l="l"/>
              <a:pathLst>
                <a:path h="3325622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3308731"/>
                  </a:lnTo>
                  <a:cubicBezTo>
                    <a:pt x="1057910" y="3318129"/>
                    <a:pt x="1050290" y="3325622"/>
                    <a:pt x="104101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41019" y="3291840"/>
                  </a:lnTo>
                  <a:lnTo>
                    <a:pt x="1041019" y="3308731"/>
                  </a:lnTo>
                  <a:lnTo>
                    <a:pt x="1024128" y="330873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27383" y="2664466"/>
            <a:ext cx="768096" cy="2468880"/>
            <a:chOff x="0" y="0"/>
            <a:chExt cx="1024128" cy="3291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1E2E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24128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5920" y="2834640"/>
            <a:ext cx="6949440" cy="640080"/>
            <a:chOff x="0" y="0"/>
            <a:chExt cx="926592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Title Normalization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45920" y="3474720"/>
            <a:ext cx="6949440" cy="1463040"/>
            <a:chOff x="0" y="0"/>
            <a:chExt cx="926592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26592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Titles are lowercased and stripped of whitespace so 'The Matrix' and 'the matrix' map to the same BST key.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05623" y="2639063"/>
            <a:ext cx="8255003" cy="2494283"/>
            <a:chOff x="0" y="0"/>
            <a:chExt cx="11006671" cy="3325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05623" y="2639063"/>
            <a:ext cx="793499" cy="2494283"/>
            <a:chOff x="0" y="0"/>
            <a:chExt cx="1057999" cy="3325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7910" cy="3325622"/>
            </a:xfrm>
            <a:custGeom>
              <a:avLst/>
              <a:gdLst/>
              <a:ahLst/>
              <a:cxnLst/>
              <a:rect r="r" b="b" t="t" l="l"/>
              <a:pathLst>
                <a:path h="3325622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3308731"/>
                  </a:lnTo>
                  <a:cubicBezTo>
                    <a:pt x="1057910" y="3318129"/>
                    <a:pt x="1050290" y="3325622"/>
                    <a:pt x="104101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41019" y="3291840"/>
                  </a:lnTo>
                  <a:lnTo>
                    <a:pt x="1041019" y="3308731"/>
                  </a:lnTo>
                  <a:lnTo>
                    <a:pt x="1024128" y="330873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18325" y="2639063"/>
            <a:ext cx="768096" cy="2468880"/>
            <a:chOff x="0" y="0"/>
            <a:chExt cx="1024128" cy="3291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024128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24160" y="2834640"/>
            <a:ext cx="6949440" cy="640080"/>
            <a:chOff x="0" y="0"/>
            <a:chExt cx="92659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Extraction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24160" y="3474720"/>
            <a:ext cx="6949440" cy="1463040"/>
            <a:chOff x="0" y="0"/>
            <a:chExt cx="926592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26592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regex pattern extracts years from titles like 'The Thing (1982)' → year = 1982, enabling year-range filtering.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7383" y="5565143"/>
            <a:ext cx="8255003" cy="2494283"/>
            <a:chOff x="0" y="0"/>
            <a:chExt cx="11006671" cy="33257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27383" y="5565143"/>
            <a:ext cx="793499" cy="2494283"/>
            <a:chOff x="0" y="0"/>
            <a:chExt cx="1057999" cy="3325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57910" cy="3325622"/>
            </a:xfrm>
            <a:custGeom>
              <a:avLst/>
              <a:gdLst/>
              <a:ahLst/>
              <a:cxnLst/>
              <a:rect r="r" b="b" t="t" l="l"/>
              <a:pathLst>
                <a:path h="3325622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3308731"/>
                  </a:lnTo>
                  <a:cubicBezTo>
                    <a:pt x="1057910" y="3318129"/>
                    <a:pt x="1050290" y="3325622"/>
                    <a:pt x="104101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41019" y="3291840"/>
                  </a:lnTo>
                  <a:lnTo>
                    <a:pt x="1041019" y="3308731"/>
                  </a:lnTo>
                  <a:lnTo>
                    <a:pt x="1024128" y="330873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52786" y="5590546"/>
            <a:ext cx="768096" cy="2468880"/>
            <a:chOff x="0" y="0"/>
            <a:chExt cx="1024128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24128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45920" y="5760720"/>
            <a:ext cx="6949440" cy="640080"/>
            <a:chOff x="0" y="0"/>
            <a:chExt cx="926592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 Handling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45920" y="6400800"/>
            <a:ext cx="6949440" cy="1463040"/>
            <a:chOff x="0" y="0"/>
            <a:chExt cx="926592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26592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Entries with empty titles are skipped entirely. Missing plots default to an empty string rather than crashing.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05623" y="5565143"/>
            <a:ext cx="8255003" cy="2494283"/>
            <a:chOff x="0" y="0"/>
            <a:chExt cx="11006671" cy="3325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405623" y="5565143"/>
            <a:ext cx="793499" cy="2494283"/>
            <a:chOff x="0" y="0"/>
            <a:chExt cx="1057999" cy="33257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57910" cy="3325622"/>
            </a:xfrm>
            <a:custGeom>
              <a:avLst/>
              <a:gdLst/>
              <a:ahLst/>
              <a:cxnLst/>
              <a:rect r="r" b="b" t="t" l="l"/>
              <a:pathLst>
                <a:path h="3325622" w="1057910">
                  <a:moveTo>
                    <a:pt x="16891" y="0"/>
                  </a:moveTo>
                  <a:lnTo>
                    <a:pt x="1041019" y="0"/>
                  </a:lnTo>
                  <a:cubicBezTo>
                    <a:pt x="1050417" y="0"/>
                    <a:pt x="1057910" y="7620"/>
                    <a:pt x="1057910" y="16891"/>
                  </a:cubicBezTo>
                  <a:lnTo>
                    <a:pt x="1057910" y="3308731"/>
                  </a:lnTo>
                  <a:cubicBezTo>
                    <a:pt x="1057910" y="3318129"/>
                    <a:pt x="1050290" y="3325622"/>
                    <a:pt x="104101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41019" y="3291840"/>
                  </a:lnTo>
                  <a:lnTo>
                    <a:pt x="1041019" y="3308731"/>
                  </a:lnTo>
                  <a:lnTo>
                    <a:pt x="1024128" y="3308731"/>
                  </a:lnTo>
                  <a:lnTo>
                    <a:pt x="1024128" y="16891"/>
                  </a:lnTo>
                  <a:lnTo>
                    <a:pt x="1041019" y="16891"/>
                  </a:lnTo>
                  <a:lnTo>
                    <a:pt x="10410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31026" y="5590546"/>
            <a:ext cx="768096" cy="2468880"/>
            <a:chOff x="0" y="0"/>
            <a:chExt cx="1024128" cy="3291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2404" t="0" r="-36240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024128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424160" y="5760720"/>
            <a:ext cx="6949440" cy="640080"/>
            <a:chOff x="0" y="0"/>
            <a:chExt cx="926592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9265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Encoding Artifacts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24160" y="6400800"/>
            <a:ext cx="6949440" cy="1463040"/>
            <a:chOff x="0" y="0"/>
            <a:chExt cx="9265920" cy="1950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26592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Wikipedia text contains special characters. The errors='replace' flag prevents crashes on unreadable bytes.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94822" y="-4074701"/>
            <a:ext cx="22928445" cy="16927642"/>
            <a:chOff x="0" y="0"/>
            <a:chExt cx="1179234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9234" cy="870606"/>
            </a:xfrm>
            <a:custGeom>
              <a:avLst/>
              <a:gdLst/>
              <a:ahLst/>
              <a:cxnLst/>
              <a:rect r="r" b="b" t="t" l="l"/>
              <a:pathLst>
                <a:path h="870606" w="1179234">
                  <a:moveTo>
                    <a:pt x="589617" y="0"/>
                  </a:moveTo>
                  <a:cubicBezTo>
                    <a:pt x="263981" y="0"/>
                    <a:pt x="0" y="194892"/>
                    <a:pt x="0" y="435303"/>
                  </a:cubicBezTo>
                  <a:cubicBezTo>
                    <a:pt x="0" y="675715"/>
                    <a:pt x="263981" y="870606"/>
                    <a:pt x="589617" y="870606"/>
                  </a:cubicBezTo>
                  <a:cubicBezTo>
                    <a:pt x="915254" y="870606"/>
                    <a:pt x="1179234" y="675715"/>
                    <a:pt x="1179234" y="435303"/>
                  </a:cubicBezTo>
                  <a:cubicBezTo>
                    <a:pt x="1179234" y="194892"/>
                    <a:pt x="915254" y="0"/>
                    <a:pt x="5896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0553" y="5419"/>
              <a:ext cx="958128" cy="78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85353" y="9535715"/>
            <a:ext cx="1216873" cy="12168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 Features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7383" y="1816103"/>
            <a:ext cx="5146043" cy="3408683"/>
            <a:chOff x="0" y="0"/>
            <a:chExt cx="6861391" cy="45449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68275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61301" cy="4544822"/>
            </a:xfrm>
            <a:custGeom>
              <a:avLst/>
              <a:gdLst/>
              <a:ahLst/>
              <a:cxnLst/>
              <a:rect r="r" b="b" t="t" l="l"/>
              <a:pathLst>
                <a:path h="45448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27931"/>
                  </a:lnTo>
                  <a:cubicBezTo>
                    <a:pt x="6861301" y="4537329"/>
                    <a:pt x="6853682" y="4544822"/>
                    <a:pt x="684441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6844411" y="4511040"/>
                  </a:lnTo>
                  <a:lnTo>
                    <a:pt x="6844411" y="4527931"/>
                  </a:lnTo>
                  <a:lnTo>
                    <a:pt x="6827520" y="45279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27383" y="1816103"/>
            <a:ext cx="5146043" cy="135131"/>
            <a:chOff x="0" y="0"/>
            <a:chExt cx="6861391" cy="18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9536" y="2011680"/>
            <a:ext cx="4754880" cy="694944"/>
            <a:chOff x="0" y="0"/>
            <a:chExt cx="633984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3398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 Search Stories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9536" y="2743200"/>
            <a:ext cx="4754880" cy="1645920"/>
            <a:chOff x="0" y="0"/>
            <a:chExt cx="6339840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339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by full title or prefix. Exact match shown first, followed by all titles starting with the same letters.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9536" y="4663440"/>
            <a:ext cx="4754880" cy="457200"/>
            <a:chOff x="0" y="0"/>
            <a:chExt cx="633984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O(log n) exact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296663" y="1816103"/>
            <a:ext cx="5146043" cy="3408683"/>
            <a:chOff x="0" y="0"/>
            <a:chExt cx="6861391" cy="45449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68275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61301" cy="4544822"/>
            </a:xfrm>
            <a:custGeom>
              <a:avLst/>
              <a:gdLst/>
              <a:ahLst/>
              <a:cxnLst/>
              <a:rect r="r" b="b" t="t" l="l"/>
              <a:pathLst>
                <a:path h="45448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27931"/>
                  </a:lnTo>
                  <a:cubicBezTo>
                    <a:pt x="6861301" y="4537329"/>
                    <a:pt x="6853682" y="4544822"/>
                    <a:pt x="684441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6844411" y="4511040"/>
                  </a:lnTo>
                  <a:lnTo>
                    <a:pt x="6844411" y="4527931"/>
                  </a:lnTo>
                  <a:lnTo>
                    <a:pt x="6827520" y="45279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296663" y="1816103"/>
            <a:ext cx="5146043" cy="135131"/>
            <a:chOff x="0" y="0"/>
            <a:chExt cx="6861391" cy="1801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28816" y="2011680"/>
            <a:ext cx="4754880" cy="694944"/>
            <a:chOff x="0" y="0"/>
            <a:chExt cx="6339840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3398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🔤  Browse Alphabetically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28816" y="2743200"/>
            <a:ext cx="4754880" cy="1645920"/>
            <a:chOff x="0" y="0"/>
            <a:chExt cx="633984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339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In-order BST traversal returns all 112k stories perfectly sorted A–Z with pagination.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28816" y="4663440"/>
            <a:ext cx="4754880" cy="457200"/>
            <a:chOff x="0" y="0"/>
            <a:chExt cx="633984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O(n) traversal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65943" y="1816103"/>
            <a:ext cx="5146043" cy="3408683"/>
            <a:chOff x="0" y="0"/>
            <a:chExt cx="6861391" cy="45449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68275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61301" cy="4544822"/>
            </a:xfrm>
            <a:custGeom>
              <a:avLst/>
              <a:gdLst/>
              <a:ahLst/>
              <a:cxnLst/>
              <a:rect r="r" b="b" t="t" l="l"/>
              <a:pathLst>
                <a:path h="45448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27931"/>
                  </a:lnTo>
                  <a:cubicBezTo>
                    <a:pt x="6861301" y="4537329"/>
                    <a:pt x="6853682" y="4544822"/>
                    <a:pt x="684441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6844411" y="4511040"/>
                  </a:lnTo>
                  <a:lnTo>
                    <a:pt x="6844411" y="4527931"/>
                  </a:lnTo>
                  <a:lnTo>
                    <a:pt x="6827520" y="45279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965943" y="1816103"/>
            <a:ext cx="5146043" cy="135131"/>
            <a:chOff x="0" y="0"/>
            <a:chExt cx="6861391" cy="1801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198096" y="2011680"/>
            <a:ext cx="4754880" cy="694944"/>
            <a:chOff x="0" y="0"/>
            <a:chExt cx="633984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63398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📅  Filter by Year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98096" y="2743200"/>
            <a:ext cx="4754880" cy="1645920"/>
            <a:chOff x="0" y="0"/>
            <a:chExt cx="633984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339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Retrieve all stories within a year range. Year is extracted from titles during preprocessing.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198096" y="4663440"/>
            <a:ext cx="4754880" cy="457200"/>
            <a:chOff x="0" y="0"/>
            <a:chExt cx="633984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O(n) traversal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462023" y="5748023"/>
            <a:ext cx="5146043" cy="3408683"/>
            <a:chOff x="0" y="0"/>
            <a:chExt cx="6861391" cy="45449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68275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61301" cy="4544822"/>
            </a:xfrm>
            <a:custGeom>
              <a:avLst/>
              <a:gdLst/>
              <a:ahLst/>
              <a:cxnLst/>
              <a:rect r="r" b="b" t="t" l="l"/>
              <a:pathLst>
                <a:path h="45448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27931"/>
                  </a:lnTo>
                  <a:cubicBezTo>
                    <a:pt x="6861301" y="4537329"/>
                    <a:pt x="6853682" y="4544822"/>
                    <a:pt x="684441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6844411" y="4511040"/>
                  </a:lnTo>
                  <a:lnTo>
                    <a:pt x="6844411" y="4527931"/>
                  </a:lnTo>
                  <a:lnTo>
                    <a:pt x="6827520" y="45279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462023" y="5748023"/>
            <a:ext cx="5146043" cy="135131"/>
            <a:chOff x="0" y="0"/>
            <a:chExt cx="6861391" cy="1801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694176" y="5943600"/>
            <a:ext cx="4754880" cy="694944"/>
            <a:chOff x="0" y="0"/>
            <a:chExt cx="6339840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63398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🗑️  Delete a Story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694176" y="6675120"/>
            <a:ext cx="4754880" cy="1645920"/>
            <a:chOff x="0" y="0"/>
            <a:chExt cx="633984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339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 any node from the BST. The tree uses in-order successor replacement to stay correctly ordered.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694176" y="8595360"/>
            <a:ext cx="4754880" cy="457200"/>
            <a:chOff x="0" y="0"/>
            <a:chExt cx="633984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O(log n) average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31303" y="5748023"/>
            <a:ext cx="5146043" cy="3408683"/>
            <a:chOff x="0" y="0"/>
            <a:chExt cx="6861391" cy="45449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6827520" cy="4511040"/>
            </a:xfrm>
            <a:custGeom>
              <a:avLst/>
              <a:gdLst/>
              <a:ahLst/>
              <a:cxnLst/>
              <a:rect r="r" b="b" t="t" l="l"/>
              <a:pathLst>
                <a:path h="4511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61301" cy="4544822"/>
            </a:xfrm>
            <a:custGeom>
              <a:avLst/>
              <a:gdLst/>
              <a:ahLst/>
              <a:cxnLst/>
              <a:rect r="r" b="b" t="t" l="l"/>
              <a:pathLst>
                <a:path h="45448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527931"/>
                  </a:lnTo>
                  <a:cubicBezTo>
                    <a:pt x="6861301" y="4537329"/>
                    <a:pt x="6853682" y="4544822"/>
                    <a:pt x="684441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6844411" y="4511040"/>
                  </a:lnTo>
                  <a:lnTo>
                    <a:pt x="6844411" y="4527931"/>
                  </a:lnTo>
                  <a:lnTo>
                    <a:pt x="6827520" y="45279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131303" y="5748023"/>
            <a:ext cx="5146043" cy="135131"/>
            <a:chOff x="0" y="0"/>
            <a:chExt cx="6861391" cy="18017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363456" y="5943600"/>
            <a:ext cx="4754880" cy="694944"/>
            <a:chOff x="0" y="0"/>
            <a:chExt cx="633984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339840" cy="926592"/>
            </a:xfrm>
            <a:custGeom>
              <a:avLst/>
              <a:gdLst/>
              <a:ahLst/>
              <a:cxnLst/>
              <a:rect r="r" b="b" t="t" l="l"/>
              <a:pathLst>
                <a:path h="92659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318" r="0" b="-8331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63398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Balance Report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363456" y="6675120"/>
            <a:ext cx="4754880" cy="1645920"/>
            <a:chOff x="0" y="0"/>
            <a:chExt cx="6339840" cy="21945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339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Compares actual tree height vs ideal log₂(n). Honestly shows where a plain BST struggles on real data.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63456" y="8595360"/>
            <a:ext cx="4754880" cy="457200"/>
            <a:chOff x="0" y="0"/>
            <a:chExt cx="633984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O(n) height calc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-1764838" y="8501386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17571" y="8077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5854" y="8712752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3" y="0"/>
                </a:lnTo>
                <a:lnTo>
                  <a:pt x="2489663" y="2494197"/>
                </a:lnTo>
                <a:lnTo>
                  <a:pt x="0" y="2494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02473" y="9351414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BST Instead of HashMap?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914400" y="1828800"/>
          <a:ext cx="16459200" cy="6248400"/>
        </p:xfrm>
        <a:graphic>
          <a:graphicData uri="http://schemas.openxmlformats.org/drawingml/2006/table">
            <a:tbl>
              <a:tblPr/>
              <a:tblGrid>
                <a:gridCol w="6392411"/>
                <a:gridCol w="4580389"/>
                <a:gridCol w="5486400"/>
              </a:tblGrid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BST 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HashMap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Exact title lookup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O(1) — faster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Alphabetical browsing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Built-in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Not possible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Prefix search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Natural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Not possible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Year range filter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Via traversal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Not possible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Sorted output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✅ Always sorted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1E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❌ Unordered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914405" y="8077200"/>
            <a:ext cx="16459200" cy="914400"/>
            <a:chOff x="0" y="0"/>
            <a:chExt cx="219456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HashMap is faster at exact lookup — but this app needs ordering, prefix matching, and range queries.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Those are natural strengths of a BST that a HashMap simply cannot provide.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69871" y="-3320321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5419"/>
              <a:ext cx="824437" cy="78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9258300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89490" y="9796760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0"/>
            <a:ext cx="16824960" cy="1371600"/>
            <a:chOff x="0" y="0"/>
            <a:chExt cx="2243328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33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89016" r="0" b="-1890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2433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Honest Limitations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7383" y="1816103"/>
            <a:ext cx="17033243" cy="2311403"/>
            <a:chOff x="0" y="0"/>
            <a:chExt cx="22710991" cy="30818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267711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10902" cy="3081782"/>
            </a:xfrm>
            <a:custGeom>
              <a:avLst/>
              <a:gdLst/>
              <a:ahLst/>
              <a:cxnLst/>
              <a:rect r="r" b="b" t="t" l="l"/>
              <a:pathLst>
                <a:path h="308178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064891"/>
                  </a:lnTo>
                  <a:cubicBezTo>
                    <a:pt x="22710902" y="3074289"/>
                    <a:pt x="22703282" y="3081782"/>
                    <a:pt x="22694010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22694010" y="3048000"/>
                  </a:lnTo>
                  <a:lnTo>
                    <a:pt x="22694010" y="3064891"/>
                  </a:lnTo>
                  <a:lnTo>
                    <a:pt x="22677120" y="30648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27383" y="1816103"/>
            <a:ext cx="153419" cy="2311403"/>
            <a:chOff x="0" y="0"/>
            <a:chExt cx="204559" cy="30818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70688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470" cy="3081782"/>
            </a:xfrm>
            <a:custGeom>
              <a:avLst/>
              <a:gdLst/>
              <a:ahLst/>
              <a:cxnLst/>
              <a:rect r="r" b="b" t="t" l="l"/>
              <a:pathLst>
                <a:path h="3081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1975104"/>
            <a:ext cx="16459200" cy="585216"/>
            <a:chOff x="0" y="0"/>
            <a:chExt cx="219456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Unbalanced Tree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40" y="2560320"/>
            <a:ext cx="11887200" cy="1097280"/>
            <a:chOff x="0" y="0"/>
            <a:chExt cx="1584960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849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5849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Wikipedia titles aren't randomly distributed — many start with 'The' or 'A'. This clusters insertions and causes some branches to grow much deeper than others, degrading search toward O(n).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167360" y="2560320"/>
            <a:ext cx="4206240" cy="1097280"/>
            <a:chOff x="0" y="0"/>
            <a:chExt cx="560832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608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3140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Fix: AVL or Red-Black tree (self-balancing)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7383" y="4559303"/>
            <a:ext cx="17033243" cy="2311403"/>
            <a:chOff x="0" y="0"/>
            <a:chExt cx="22710991" cy="30818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267711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710902" cy="3081782"/>
            </a:xfrm>
            <a:custGeom>
              <a:avLst/>
              <a:gdLst/>
              <a:ahLst/>
              <a:cxnLst/>
              <a:rect r="r" b="b" t="t" l="l"/>
              <a:pathLst>
                <a:path h="308178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064891"/>
                  </a:lnTo>
                  <a:cubicBezTo>
                    <a:pt x="22710902" y="3074289"/>
                    <a:pt x="22703282" y="3081782"/>
                    <a:pt x="22694010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22694010" y="3048000"/>
                  </a:lnTo>
                  <a:lnTo>
                    <a:pt x="22694010" y="3064891"/>
                  </a:lnTo>
                  <a:lnTo>
                    <a:pt x="22677120" y="30648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7383" y="4559303"/>
            <a:ext cx="153419" cy="2311403"/>
            <a:chOff x="0" y="0"/>
            <a:chExt cx="204559" cy="3081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0688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4470" cy="3081782"/>
            </a:xfrm>
            <a:custGeom>
              <a:avLst/>
              <a:gdLst/>
              <a:ahLst/>
              <a:cxnLst/>
              <a:rect r="r" b="b" t="t" l="l"/>
              <a:pathLst>
                <a:path h="3081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5840" y="4718304"/>
            <a:ext cx="16459200" cy="585216"/>
            <a:chOff x="0" y="0"/>
            <a:chExt cx="21945600" cy="780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Filter is O(n)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5840" y="5303520"/>
            <a:ext cx="11887200" cy="1097280"/>
            <a:chOff x="0" y="0"/>
            <a:chExt cx="1584960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49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5849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Because the BST is keyed by title — not year — finding stories in a year range requires walking every node. There is no way to skip irrelevant entries.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67360" y="5303520"/>
            <a:ext cx="4206240" cy="1097280"/>
            <a:chOff x="0" y="0"/>
            <a:chExt cx="560832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0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608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3140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Fix: Secondary index keyed by year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27383" y="7302503"/>
            <a:ext cx="17033243" cy="2311403"/>
            <a:chOff x="0" y="0"/>
            <a:chExt cx="22710991" cy="30818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2267711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710902" cy="3081782"/>
            </a:xfrm>
            <a:custGeom>
              <a:avLst/>
              <a:gdLst/>
              <a:ahLst/>
              <a:cxnLst/>
              <a:rect r="r" b="b" t="t" l="l"/>
              <a:pathLst>
                <a:path h="308178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064891"/>
                  </a:lnTo>
                  <a:cubicBezTo>
                    <a:pt x="22710902" y="3074289"/>
                    <a:pt x="22703282" y="3081782"/>
                    <a:pt x="22694010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22694010" y="3048000"/>
                  </a:lnTo>
                  <a:lnTo>
                    <a:pt x="22694010" y="3064891"/>
                  </a:lnTo>
                  <a:lnTo>
                    <a:pt x="22677120" y="306489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27383" y="7302503"/>
            <a:ext cx="153419" cy="2311403"/>
            <a:chOff x="0" y="0"/>
            <a:chExt cx="204559" cy="30818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70688" cy="3048000"/>
            </a:xfrm>
            <a:custGeom>
              <a:avLst/>
              <a:gdLst/>
              <a:ahLst/>
              <a:cxnLst/>
              <a:rect r="r" b="b" t="t" l="l"/>
              <a:pathLst>
                <a:path h="3048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F96167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4470" cy="3081782"/>
            </a:xfrm>
            <a:custGeom>
              <a:avLst/>
              <a:gdLst/>
              <a:ahLst/>
              <a:cxnLst/>
              <a:rect r="r" b="b" t="t" l="l"/>
              <a:pathLst>
                <a:path h="30817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064891"/>
                  </a:lnTo>
                  <a:cubicBezTo>
                    <a:pt x="204470" y="3074289"/>
                    <a:pt x="196850" y="3081782"/>
                    <a:pt x="187579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187579" y="3048000"/>
                  </a:lnTo>
                  <a:lnTo>
                    <a:pt x="187579" y="3064891"/>
                  </a:lnTo>
                  <a:lnTo>
                    <a:pt x="170688" y="30648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616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840" y="7461504"/>
            <a:ext cx="16459200" cy="585216"/>
            <a:chOff x="0" y="0"/>
            <a:chExt cx="2194560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Persistence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5840" y="8046720"/>
            <a:ext cx="11887200" cy="1097280"/>
            <a:chOff x="0" y="0"/>
            <a:chExt cx="1584960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849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5849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BST is rebuilt from the dataset every time the app starts. There is no saved state between sessions.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167360" y="8046720"/>
            <a:ext cx="4206240" cy="1097280"/>
            <a:chOff x="0" y="0"/>
            <a:chExt cx="560832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0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56083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3140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Fix: Serialize tree to disk on exit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F8EF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31520" y="2493645"/>
            <a:ext cx="16459200" cy="383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E1E2E"/>
                </a:solidFill>
                <a:latin typeface="Calibri (MS)"/>
                <a:ea typeface="Calibri (MS)"/>
                <a:cs typeface="Calibri (MS)"/>
                <a:sym typeface="Calibri (MS)"/>
              </a:rPr>
              <a:t>A BST efficiently organizes 112,936 stories with O(log n) average search</a:t>
            </a:r>
          </a:p>
          <a:p>
            <a:pPr algn="l">
              <a:lnSpc>
                <a:spcPts val="3359"/>
              </a:lnSpc>
            </a:pP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E1E2E"/>
                </a:solidFill>
                <a:latin typeface="Calibri (MS)"/>
                <a:ea typeface="Calibri (MS)"/>
                <a:cs typeface="Calibri (MS)"/>
                <a:sym typeface="Calibri (MS)"/>
              </a:rPr>
              <a:t>Real-world data requires careful preprocessing before indexing</a:t>
            </a:r>
          </a:p>
          <a:p>
            <a:pPr algn="l">
              <a:lnSpc>
                <a:spcPts val="3359"/>
              </a:lnSpc>
            </a:pP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E1E2E"/>
                </a:solidFill>
                <a:latin typeface="Calibri (MS)"/>
                <a:ea typeface="Calibri (MS)"/>
                <a:cs typeface="Calibri (MS)"/>
                <a:sym typeface="Calibri (MS)"/>
              </a:rPr>
              <a:t>BST outperforms HashMap for ordering, prefix, and range operations</a:t>
            </a:r>
          </a:p>
          <a:p>
            <a:pPr algn="l">
              <a:lnSpc>
                <a:spcPts val="3359"/>
              </a:lnSpc>
            </a:pP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E1E2E"/>
                </a:solidFill>
                <a:latin typeface="Calibri (MS)"/>
                <a:ea typeface="Calibri (MS)"/>
                <a:cs typeface="Calibri (MS)"/>
                <a:sym typeface="Calibri (MS)"/>
              </a:rPr>
              <a:t>Honest evaluation: unbalanced input degrades performance — shown in the Balance Report</a:t>
            </a:r>
          </a:p>
          <a:p>
            <a:pPr algn="l">
              <a:lnSpc>
                <a:spcPts val="3359"/>
              </a:lnSpc>
            </a:pPr>
          </a:p>
          <a:p>
            <a:pPr algn="l" marL="675640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E1E2E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frontend makes the data structure accessible to any audience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430828" y="9258300"/>
            <a:ext cx="16824960" cy="548640"/>
            <a:chOff x="0" y="0"/>
            <a:chExt cx="224332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1E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MSML606  ·  WikiPlots BST Search Engine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2697" y="0"/>
            <a:ext cx="18313403" cy="1397003"/>
            <a:chOff x="0" y="0"/>
            <a:chExt cx="24417871" cy="1862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1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1E2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18265" y="332911"/>
            <a:ext cx="316669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b="true" sz="405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Takeaways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45401" y="3004188"/>
            <a:ext cx="8997199" cy="268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true">
                <a:solidFill>
                  <a:srgbClr val="31404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1E1E2E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DAHE_Fkj-bk</dc:identifier>
  <dcterms:modified xsi:type="dcterms:W3CDTF">2011-08-01T06:04:30Z</dcterms:modified>
  <cp:revision>1</cp:revision>
  <dc:title>Build a working search engine that demonstrates BST strengths — and honestly shows its limitations too.</dc:title>
</cp:coreProperties>
</file>